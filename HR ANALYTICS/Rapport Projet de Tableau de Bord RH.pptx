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89" d="100"/>
          <a:sy n="89" d="100"/>
        </p:scale>
        <p:origin x="61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804F98F-7177-46D7-B515-CC8B9780234C}"/>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5D887A1C-3651-4060-84DA-EAE1137BE23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AB67AFC3-0B15-4144-9496-195391E13EF2}"/>
              </a:ext>
            </a:extLst>
          </p:cNvPr>
          <p:cNvSpPr>
            <a:spLocks noGrp="1"/>
          </p:cNvSpPr>
          <p:nvPr>
            <p:ph type="dt" sz="half" idx="10"/>
          </p:nvPr>
        </p:nvSpPr>
        <p:spPr/>
        <p:txBody>
          <a:bodyPr/>
          <a:lstStyle/>
          <a:p>
            <a:fld id="{DFE92707-EDA7-4BA3-9F51-AB8230355CAF}" type="datetimeFigureOut">
              <a:rPr lang="fr-FR" smtClean="0"/>
              <a:t>04/03/2026</a:t>
            </a:fld>
            <a:endParaRPr lang="fr-FR"/>
          </a:p>
        </p:txBody>
      </p:sp>
      <p:sp>
        <p:nvSpPr>
          <p:cNvPr id="5" name="Espace réservé du pied de page 4">
            <a:extLst>
              <a:ext uri="{FF2B5EF4-FFF2-40B4-BE49-F238E27FC236}">
                <a16:creationId xmlns:a16="http://schemas.microsoft.com/office/drawing/2014/main" id="{4262B56B-7FA0-4B98-877E-2BE9E34E1F5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F0F3294-4118-44C9-993A-488BF72627E3}"/>
              </a:ext>
            </a:extLst>
          </p:cNvPr>
          <p:cNvSpPr>
            <a:spLocks noGrp="1"/>
          </p:cNvSpPr>
          <p:nvPr>
            <p:ph type="sldNum" sz="quarter" idx="12"/>
          </p:nvPr>
        </p:nvSpPr>
        <p:spPr/>
        <p:txBody>
          <a:bodyPr/>
          <a:lstStyle/>
          <a:p>
            <a:fld id="{2B5906D5-4940-4F91-BBC6-CB10480894DB}" type="slidenum">
              <a:rPr lang="fr-FR" smtClean="0"/>
              <a:t>‹N°›</a:t>
            </a:fld>
            <a:endParaRPr lang="fr-FR"/>
          </a:p>
        </p:txBody>
      </p:sp>
    </p:spTree>
    <p:extLst>
      <p:ext uri="{BB962C8B-B14F-4D97-AF65-F5344CB8AC3E}">
        <p14:creationId xmlns:p14="http://schemas.microsoft.com/office/powerpoint/2010/main" val="37917589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88ABAA5-B69E-492B-85F0-ECD6EA3DE392}"/>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C77653B3-25E3-4D01-AF09-FB8A06C1B53E}"/>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DF5FF28E-9E87-4483-AD3E-FCF519967950}"/>
              </a:ext>
            </a:extLst>
          </p:cNvPr>
          <p:cNvSpPr>
            <a:spLocks noGrp="1"/>
          </p:cNvSpPr>
          <p:nvPr>
            <p:ph type="dt" sz="half" idx="10"/>
          </p:nvPr>
        </p:nvSpPr>
        <p:spPr/>
        <p:txBody>
          <a:bodyPr/>
          <a:lstStyle/>
          <a:p>
            <a:fld id="{DFE92707-EDA7-4BA3-9F51-AB8230355CAF}" type="datetimeFigureOut">
              <a:rPr lang="fr-FR" smtClean="0"/>
              <a:t>04/03/2026</a:t>
            </a:fld>
            <a:endParaRPr lang="fr-FR"/>
          </a:p>
        </p:txBody>
      </p:sp>
      <p:sp>
        <p:nvSpPr>
          <p:cNvPr id="5" name="Espace réservé du pied de page 4">
            <a:extLst>
              <a:ext uri="{FF2B5EF4-FFF2-40B4-BE49-F238E27FC236}">
                <a16:creationId xmlns:a16="http://schemas.microsoft.com/office/drawing/2014/main" id="{34CC3028-6D79-43C3-AFBC-8525CD3DA23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6087BA7-2E40-4275-92F7-119B6F3B5426}"/>
              </a:ext>
            </a:extLst>
          </p:cNvPr>
          <p:cNvSpPr>
            <a:spLocks noGrp="1"/>
          </p:cNvSpPr>
          <p:nvPr>
            <p:ph type="sldNum" sz="quarter" idx="12"/>
          </p:nvPr>
        </p:nvSpPr>
        <p:spPr/>
        <p:txBody>
          <a:bodyPr/>
          <a:lstStyle/>
          <a:p>
            <a:fld id="{2B5906D5-4940-4F91-BBC6-CB10480894DB}" type="slidenum">
              <a:rPr lang="fr-FR" smtClean="0"/>
              <a:t>‹N°›</a:t>
            </a:fld>
            <a:endParaRPr lang="fr-FR"/>
          </a:p>
        </p:txBody>
      </p:sp>
    </p:spTree>
    <p:extLst>
      <p:ext uri="{BB962C8B-B14F-4D97-AF65-F5344CB8AC3E}">
        <p14:creationId xmlns:p14="http://schemas.microsoft.com/office/powerpoint/2010/main" val="14836907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CEB186A-89C9-4238-8E87-04F5BF766D1D}"/>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3C245BB9-93CC-4A3B-9A34-B5CAFB25EC6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466DD5F4-6B40-46E4-9D26-9C559792C064}"/>
              </a:ext>
            </a:extLst>
          </p:cNvPr>
          <p:cNvSpPr>
            <a:spLocks noGrp="1"/>
          </p:cNvSpPr>
          <p:nvPr>
            <p:ph type="dt" sz="half" idx="10"/>
          </p:nvPr>
        </p:nvSpPr>
        <p:spPr/>
        <p:txBody>
          <a:bodyPr/>
          <a:lstStyle/>
          <a:p>
            <a:fld id="{DFE92707-EDA7-4BA3-9F51-AB8230355CAF}" type="datetimeFigureOut">
              <a:rPr lang="fr-FR" smtClean="0"/>
              <a:t>04/03/2026</a:t>
            </a:fld>
            <a:endParaRPr lang="fr-FR"/>
          </a:p>
        </p:txBody>
      </p:sp>
      <p:sp>
        <p:nvSpPr>
          <p:cNvPr id="5" name="Espace réservé du pied de page 4">
            <a:extLst>
              <a:ext uri="{FF2B5EF4-FFF2-40B4-BE49-F238E27FC236}">
                <a16:creationId xmlns:a16="http://schemas.microsoft.com/office/drawing/2014/main" id="{C3FBAD96-975E-4E7F-A5FE-82B2E45DA298}"/>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7258858-6096-4387-96C1-4CC4D61EE525}"/>
              </a:ext>
            </a:extLst>
          </p:cNvPr>
          <p:cNvSpPr>
            <a:spLocks noGrp="1"/>
          </p:cNvSpPr>
          <p:nvPr>
            <p:ph type="sldNum" sz="quarter" idx="12"/>
          </p:nvPr>
        </p:nvSpPr>
        <p:spPr/>
        <p:txBody>
          <a:bodyPr/>
          <a:lstStyle/>
          <a:p>
            <a:fld id="{2B5906D5-4940-4F91-BBC6-CB10480894DB}" type="slidenum">
              <a:rPr lang="fr-FR" smtClean="0"/>
              <a:t>‹N°›</a:t>
            </a:fld>
            <a:endParaRPr lang="fr-FR"/>
          </a:p>
        </p:txBody>
      </p:sp>
    </p:spTree>
    <p:extLst>
      <p:ext uri="{BB962C8B-B14F-4D97-AF65-F5344CB8AC3E}">
        <p14:creationId xmlns:p14="http://schemas.microsoft.com/office/powerpoint/2010/main" val="37901642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C120A3E-7D62-448A-9B8B-A21B1E952DAA}"/>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C43BC2E4-6C19-46BA-8FD2-A39BA271FE34}"/>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075D8A8C-F432-4278-9884-D1E21F02BE76}"/>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57AA85BC-84B5-4F1F-9528-AF36A271F71E}"/>
              </a:ext>
            </a:extLst>
          </p:cNvPr>
          <p:cNvSpPr>
            <a:spLocks noGrp="1"/>
          </p:cNvSpPr>
          <p:nvPr>
            <p:ph type="dt" sz="half" idx="10"/>
          </p:nvPr>
        </p:nvSpPr>
        <p:spPr/>
        <p:txBody>
          <a:bodyPr/>
          <a:lstStyle/>
          <a:p>
            <a:fld id="{DFE92707-EDA7-4BA3-9F51-AB8230355CAF}" type="datetimeFigureOut">
              <a:rPr lang="fr-FR" smtClean="0"/>
              <a:t>04/03/2026</a:t>
            </a:fld>
            <a:endParaRPr lang="fr-FR"/>
          </a:p>
        </p:txBody>
      </p:sp>
      <p:sp>
        <p:nvSpPr>
          <p:cNvPr id="6" name="Espace réservé du pied de page 5">
            <a:extLst>
              <a:ext uri="{FF2B5EF4-FFF2-40B4-BE49-F238E27FC236}">
                <a16:creationId xmlns:a16="http://schemas.microsoft.com/office/drawing/2014/main" id="{536182F4-C670-448F-99AE-29B982C53130}"/>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75854695-A7DE-47AE-8622-6BEDEE46E486}"/>
              </a:ext>
            </a:extLst>
          </p:cNvPr>
          <p:cNvSpPr>
            <a:spLocks noGrp="1"/>
          </p:cNvSpPr>
          <p:nvPr>
            <p:ph type="sldNum" sz="quarter" idx="12"/>
          </p:nvPr>
        </p:nvSpPr>
        <p:spPr/>
        <p:txBody>
          <a:bodyPr/>
          <a:lstStyle/>
          <a:p>
            <a:fld id="{2B5906D5-4940-4F91-BBC6-CB10480894DB}" type="slidenum">
              <a:rPr lang="fr-FR" smtClean="0"/>
              <a:t>‹N°›</a:t>
            </a:fld>
            <a:endParaRPr lang="fr-FR"/>
          </a:p>
        </p:txBody>
      </p:sp>
    </p:spTree>
    <p:extLst>
      <p:ext uri="{BB962C8B-B14F-4D97-AF65-F5344CB8AC3E}">
        <p14:creationId xmlns:p14="http://schemas.microsoft.com/office/powerpoint/2010/main" val="25989619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B1E0A97-68A0-4BBE-814D-395E36676ADC}"/>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D147198C-1666-4743-BA8D-09D004A141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D621AFC5-B744-412B-8866-A66FE086D42C}"/>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E16474E0-4DDF-41E0-834C-39C832C0BBA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5F9E3930-28EC-460A-9617-9ED30F0DC484}"/>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1767C6BA-6EB0-4F47-B628-A6C710D6FE37}"/>
              </a:ext>
            </a:extLst>
          </p:cNvPr>
          <p:cNvSpPr>
            <a:spLocks noGrp="1"/>
          </p:cNvSpPr>
          <p:nvPr>
            <p:ph type="dt" sz="half" idx="10"/>
          </p:nvPr>
        </p:nvSpPr>
        <p:spPr/>
        <p:txBody>
          <a:bodyPr/>
          <a:lstStyle/>
          <a:p>
            <a:fld id="{DFE92707-EDA7-4BA3-9F51-AB8230355CAF}" type="datetimeFigureOut">
              <a:rPr lang="fr-FR" smtClean="0"/>
              <a:t>04/03/2026</a:t>
            </a:fld>
            <a:endParaRPr lang="fr-FR"/>
          </a:p>
        </p:txBody>
      </p:sp>
      <p:sp>
        <p:nvSpPr>
          <p:cNvPr id="8" name="Espace réservé du pied de page 7">
            <a:extLst>
              <a:ext uri="{FF2B5EF4-FFF2-40B4-BE49-F238E27FC236}">
                <a16:creationId xmlns:a16="http://schemas.microsoft.com/office/drawing/2014/main" id="{5D13AC15-3672-4538-B749-92FA50F16E84}"/>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FF0404B1-6C8B-4AD3-981B-223A1E3A2C9B}"/>
              </a:ext>
            </a:extLst>
          </p:cNvPr>
          <p:cNvSpPr>
            <a:spLocks noGrp="1"/>
          </p:cNvSpPr>
          <p:nvPr>
            <p:ph type="sldNum" sz="quarter" idx="12"/>
          </p:nvPr>
        </p:nvSpPr>
        <p:spPr/>
        <p:txBody>
          <a:bodyPr/>
          <a:lstStyle/>
          <a:p>
            <a:fld id="{2B5906D5-4940-4F91-BBC6-CB10480894DB}" type="slidenum">
              <a:rPr lang="fr-FR" smtClean="0"/>
              <a:t>‹N°›</a:t>
            </a:fld>
            <a:endParaRPr lang="fr-FR"/>
          </a:p>
        </p:txBody>
      </p:sp>
    </p:spTree>
    <p:extLst>
      <p:ext uri="{BB962C8B-B14F-4D97-AF65-F5344CB8AC3E}">
        <p14:creationId xmlns:p14="http://schemas.microsoft.com/office/powerpoint/2010/main" val="23359671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CFE2496-535D-4017-BF17-F30ACC437799}"/>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4773857D-F5C4-4655-8090-48354C73A445}"/>
              </a:ext>
            </a:extLst>
          </p:cNvPr>
          <p:cNvSpPr>
            <a:spLocks noGrp="1"/>
          </p:cNvSpPr>
          <p:nvPr>
            <p:ph type="dt" sz="half" idx="10"/>
          </p:nvPr>
        </p:nvSpPr>
        <p:spPr/>
        <p:txBody>
          <a:bodyPr/>
          <a:lstStyle/>
          <a:p>
            <a:fld id="{DFE92707-EDA7-4BA3-9F51-AB8230355CAF}" type="datetimeFigureOut">
              <a:rPr lang="fr-FR" smtClean="0"/>
              <a:t>04/03/2026</a:t>
            </a:fld>
            <a:endParaRPr lang="fr-FR"/>
          </a:p>
        </p:txBody>
      </p:sp>
      <p:sp>
        <p:nvSpPr>
          <p:cNvPr id="4" name="Espace réservé du pied de page 3">
            <a:extLst>
              <a:ext uri="{FF2B5EF4-FFF2-40B4-BE49-F238E27FC236}">
                <a16:creationId xmlns:a16="http://schemas.microsoft.com/office/drawing/2014/main" id="{C9D7D291-C018-49B1-8B51-C3F259733A3B}"/>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99FE8230-3AF4-42C1-B930-45B339069E1C}"/>
              </a:ext>
            </a:extLst>
          </p:cNvPr>
          <p:cNvSpPr>
            <a:spLocks noGrp="1"/>
          </p:cNvSpPr>
          <p:nvPr>
            <p:ph type="sldNum" sz="quarter" idx="12"/>
          </p:nvPr>
        </p:nvSpPr>
        <p:spPr/>
        <p:txBody>
          <a:bodyPr/>
          <a:lstStyle/>
          <a:p>
            <a:fld id="{2B5906D5-4940-4F91-BBC6-CB10480894DB}" type="slidenum">
              <a:rPr lang="fr-FR" smtClean="0"/>
              <a:t>‹N°›</a:t>
            </a:fld>
            <a:endParaRPr lang="fr-FR"/>
          </a:p>
        </p:txBody>
      </p:sp>
    </p:spTree>
    <p:extLst>
      <p:ext uri="{BB962C8B-B14F-4D97-AF65-F5344CB8AC3E}">
        <p14:creationId xmlns:p14="http://schemas.microsoft.com/office/powerpoint/2010/main" val="16690531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26C5436E-3E63-4259-8523-C0D4D6F01392}"/>
              </a:ext>
            </a:extLst>
          </p:cNvPr>
          <p:cNvSpPr>
            <a:spLocks noGrp="1"/>
          </p:cNvSpPr>
          <p:nvPr>
            <p:ph type="dt" sz="half" idx="10"/>
          </p:nvPr>
        </p:nvSpPr>
        <p:spPr/>
        <p:txBody>
          <a:bodyPr/>
          <a:lstStyle/>
          <a:p>
            <a:fld id="{DFE92707-EDA7-4BA3-9F51-AB8230355CAF}" type="datetimeFigureOut">
              <a:rPr lang="fr-FR" smtClean="0"/>
              <a:t>04/03/2026</a:t>
            </a:fld>
            <a:endParaRPr lang="fr-FR"/>
          </a:p>
        </p:txBody>
      </p:sp>
      <p:sp>
        <p:nvSpPr>
          <p:cNvPr id="3" name="Espace réservé du pied de page 2">
            <a:extLst>
              <a:ext uri="{FF2B5EF4-FFF2-40B4-BE49-F238E27FC236}">
                <a16:creationId xmlns:a16="http://schemas.microsoft.com/office/drawing/2014/main" id="{D45424DB-8535-471A-9348-D7EA91D36F9A}"/>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C97F614B-D786-4993-AA97-630F153D73AA}"/>
              </a:ext>
            </a:extLst>
          </p:cNvPr>
          <p:cNvSpPr>
            <a:spLocks noGrp="1"/>
          </p:cNvSpPr>
          <p:nvPr>
            <p:ph type="sldNum" sz="quarter" idx="12"/>
          </p:nvPr>
        </p:nvSpPr>
        <p:spPr/>
        <p:txBody>
          <a:bodyPr/>
          <a:lstStyle/>
          <a:p>
            <a:fld id="{2B5906D5-4940-4F91-BBC6-CB10480894DB}" type="slidenum">
              <a:rPr lang="fr-FR" smtClean="0"/>
              <a:t>‹N°›</a:t>
            </a:fld>
            <a:endParaRPr lang="fr-FR"/>
          </a:p>
        </p:txBody>
      </p:sp>
    </p:spTree>
    <p:extLst>
      <p:ext uri="{BB962C8B-B14F-4D97-AF65-F5344CB8AC3E}">
        <p14:creationId xmlns:p14="http://schemas.microsoft.com/office/powerpoint/2010/main" val="21722415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6EA08FA-66F3-46C4-9CA0-465096335617}"/>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DF84D498-345B-44CC-8889-7608149BC7A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2EDD7B79-5C20-49D0-B98D-9BC6C29FA6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6FE3E623-121C-4B2A-809B-C813DCC26642}"/>
              </a:ext>
            </a:extLst>
          </p:cNvPr>
          <p:cNvSpPr>
            <a:spLocks noGrp="1"/>
          </p:cNvSpPr>
          <p:nvPr>
            <p:ph type="dt" sz="half" idx="10"/>
          </p:nvPr>
        </p:nvSpPr>
        <p:spPr/>
        <p:txBody>
          <a:bodyPr/>
          <a:lstStyle/>
          <a:p>
            <a:fld id="{DFE92707-EDA7-4BA3-9F51-AB8230355CAF}" type="datetimeFigureOut">
              <a:rPr lang="fr-FR" smtClean="0"/>
              <a:t>04/03/2026</a:t>
            </a:fld>
            <a:endParaRPr lang="fr-FR"/>
          </a:p>
        </p:txBody>
      </p:sp>
      <p:sp>
        <p:nvSpPr>
          <p:cNvPr id="6" name="Espace réservé du pied de page 5">
            <a:extLst>
              <a:ext uri="{FF2B5EF4-FFF2-40B4-BE49-F238E27FC236}">
                <a16:creationId xmlns:a16="http://schemas.microsoft.com/office/drawing/2014/main" id="{D91EB866-3D48-40CF-BDFF-12A6E2715D6E}"/>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3F28BA13-6EAE-4E76-A32A-552D43930513}"/>
              </a:ext>
            </a:extLst>
          </p:cNvPr>
          <p:cNvSpPr>
            <a:spLocks noGrp="1"/>
          </p:cNvSpPr>
          <p:nvPr>
            <p:ph type="sldNum" sz="quarter" idx="12"/>
          </p:nvPr>
        </p:nvSpPr>
        <p:spPr/>
        <p:txBody>
          <a:bodyPr/>
          <a:lstStyle/>
          <a:p>
            <a:fld id="{2B5906D5-4940-4F91-BBC6-CB10480894DB}" type="slidenum">
              <a:rPr lang="fr-FR" smtClean="0"/>
              <a:t>‹N°›</a:t>
            </a:fld>
            <a:endParaRPr lang="fr-FR"/>
          </a:p>
        </p:txBody>
      </p:sp>
    </p:spTree>
    <p:extLst>
      <p:ext uri="{BB962C8B-B14F-4D97-AF65-F5344CB8AC3E}">
        <p14:creationId xmlns:p14="http://schemas.microsoft.com/office/powerpoint/2010/main" val="25322372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1F771E0-6FBF-4047-A84B-F0E4BB335C29}"/>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6C1E80BA-2E3D-417D-903D-152F34093BC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A2F5892B-9BF0-4162-ABBA-8EE48E247F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23DDBDC1-7C94-41B8-96EC-C0141BCB6D5C}"/>
              </a:ext>
            </a:extLst>
          </p:cNvPr>
          <p:cNvSpPr>
            <a:spLocks noGrp="1"/>
          </p:cNvSpPr>
          <p:nvPr>
            <p:ph type="dt" sz="half" idx="10"/>
          </p:nvPr>
        </p:nvSpPr>
        <p:spPr/>
        <p:txBody>
          <a:bodyPr/>
          <a:lstStyle/>
          <a:p>
            <a:fld id="{DFE92707-EDA7-4BA3-9F51-AB8230355CAF}" type="datetimeFigureOut">
              <a:rPr lang="fr-FR" smtClean="0"/>
              <a:t>04/03/2026</a:t>
            </a:fld>
            <a:endParaRPr lang="fr-FR"/>
          </a:p>
        </p:txBody>
      </p:sp>
      <p:sp>
        <p:nvSpPr>
          <p:cNvPr id="6" name="Espace réservé du pied de page 5">
            <a:extLst>
              <a:ext uri="{FF2B5EF4-FFF2-40B4-BE49-F238E27FC236}">
                <a16:creationId xmlns:a16="http://schemas.microsoft.com/office/drawing/2014/main" id="{342A0E0B-FA1F-4A89-8BD1-4FC00641FFCC}"/>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D74D43C1-1CEF-4041-B52A-437E6524704C}"/>
              </a:ext>
            </a:extLst>
          </p:cNvPr>
          <p:cNvSpPr>
            <a:spLocks noGrp="1"/>
          </p:cNvSpPr>
          <p:nvPr>
            <p:ph type="sldNum" sz="quarter" idx="12"/>
          </p:nvPr>
        </p:nvSpPr>
        <p:spPr/>
        <p:txBody>
          <a:bodyPr/>
          <a:lstStyle/>
          <a:p>
            <a:fld id="{2B5906D5-4940-4F91-BBC6-CB10480894DB}" type="slidenum">
              <a:rPr lang="fr-FR" smtClean="0"/>
              <a:t>‹N°›</a:t>
            </a:fld>
            <a:endParaRPr lang="fr-FR"/>
          </a:p>
        </p:txBody>
      </p:sp>
    </p:spTree>
    <p:extLst>
      <p:ext uri="{BB962C8B-B14F-4D97-AF65-F5344CB8AC3E}">
        <p14:creationId xmlns:p14="http://schemas.microsoft.com/office/powerpoint/2010/main" val="20038776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25EF3E3-405E-4388-82C0-E3B06BA55A16}"/>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48A6FA92-8B39-4ECD-9047-2497BDDC35A1}"/>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DA62D2CA-9A71-4072-8366-CE66A8371346}"/>
              </a:ext>
            </a:extLst>
          </p:cNvPr>
          <p:cNvSpPr>
            <a:spLocks noGrp="1"/>
          </p:cNvSpPr>
          <p:nvPr>
            <p:ph type="dt" sz="half" idx="10"/>
          </p:nvPr>
        </p:nvSpPr>
        <p:spPr/>
        <p:txBody>
          <a:bodyPr/>
          <a:lstStyle/>
          <a:p>
            <a:fld id="{DFE92707-EDA7-4BA3-9F51-AB8230355CAF}" type="datetimeFigureOut">
              <a:rPr lang="fr-FR" smtClean="0"/>
              <a:t>04/03/2026</a:t>
            </a:fld>
            <a:endParaRPr lang="fr-FR"/>
          </a:p>
        </p:txBody>
      </p:sp>
      <p:sp>
        <p:nvSpPr>
          <p:cNvPr id="5" name="Espace réservé du pied de page 4">
            <a:extLst>
              <a:ext uri="{FF2B5EF4-FFF2-40B4-BE49-F238E27FC236}">
                <a16:creationId xmlns:a16="http://schemas.microsoft.com/office/drawing/2014/main" id="{B34D0D04-A333-4F0E-ADBA-C65868DDB2B4}"/>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CF65BD2-FA66-4238-86EF-90575EAC1475}"/>
              </a:ext>
            </a:extLst>
          </p:cNvPr>
          <p:cNvSpPr>
            <a:spLocks noGrp="1"/>
          </p:cNvSpPr>
          <p:nvPr>
            <p:ph type="sldNum" sz="quarter" idx="12"/>
          </p:nvPr>
        </p:nvSpPr>
        <p:spPr/>
        <p:txBody>
          <a:bodyPr/>
          <a:lstStyle/>
          <a:p>
            <a:fld id="{2B5906D5-4940-4F91-BBC6-CB10480894DB}" type="slidenum">
              <a:rPr lang="fr-FR" smtClean="0"/>
              <a:t>‹N°›</a:t>
            </a:fld>
            <a:endParaRPr lang="fr-FR"/>
          </a:p>
        </p:txBody>
      </p:sp>
    </p:spTree>
    <p:extLst>
      <p:ext uri="{BB962C8B-B14F-4D97-AF65-F5344CB8AC3E}">
        <p14:creationId xmlns:p14="http://schemas.microsoft.com/office/powerpoint/2010/main" val="15159508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DBBB714E-B03F-4C28-A8B3-C6B0695DC87A}"/>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409F7E98-1241-4682-9AEE-18C6114B64A9}"/>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A53BE6C-EC26-4591-8F35-81F79F9D2B66}"/>
              </a:ext>
            </a:extLst>
          </p:cNvPr>
          <p:cNvSpPr>
            <a:spLocks noGrp="1"/>
          </p:cNvSpPr>
          <p:nvPr>
            <p:ph type="dt" sz="half" idx="10"/>
          </p:nvPr>
        </p:nvSpPr>
        <p:spPr/>
        <p:txBody>
          <a:bodyPr/>
          <a:lstStyle/>
          <a:p>
            <a:fld id="{DFE92707-EDA7-4BA3-9F51-AB8230355CAF}" type="datetimeFigureOut">
              <a:rPr lang="fr-FR" smtClean="0"/>
              <a:t>04/03/2026</a:t>
            </a:fld>
            <a:endParaRPr lang="fr-FR"/>
          </a:p>
        </p:txBody>
      </p:sp>
      <p:sp>
        <p:nvSpPr>
          <p:cNvPr id="5" name="Espace réservé du pied de page 4">
            <a:extLst>
              <a:ext uri="{FF2B5EF4-FFF2-40B4-BE49-F238E27FC236}">
                <a16:creationId xmlns:a16="http://schemas.microsoft.com/office/drawing/2014/main" id="{1450726D-CA7E-4E40-9276-A67FDAB3EAF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974B26BB-4CF8-4E5A-B4A9-90F5DFAB6487}"/>
              </a:ext>
            </a:extLst>
          </p:cNvPr>
          <p:cNvSpPr>
            <a:spLocks noGrp="1"/>
          </p:cNvSpPr>
          <p:nvPr>
            <p:ph type="sldNum" sz="quarter" idx="12"/>
          </p:nvPr>
        </p:nvSpPr>
        <p:spPr/>
        <p:txBody>
          <a:bodyPr/>
          <a:lstStyle/>
          <a:p>
            <a:fld id="{2B5906D5-4940-4F91-BBC6-CB10480894DB}" type="slidenum">
              <a:rPr lang="fr-FR" smtClean="0"/>
              <a:t>‹N°›</a:t>
            </a:fld>
            <a:endParaRPr lang="fr-FR"/>
          </a:p>
        </p:txBody>
      </p:sp>
    </p:spTree>
    <p:extLst>
      <p:ext uri="{BB962C8B-B14F-4D97-AF65-F5344CB8AC3E}">
        <p14:creationId xmlns:p14="http://schemas.microsoft.com/office/powerpoint/2010/main" val="19813337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ACF69A2E-4C07-40EA-B708-225E86ADB28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06DE1B35-9D85-44D8-9916-5A9891E558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DFA6BCB-3A52-4FF9-90BF-B30DF23F80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FE92707-EDA7-4BA3-9F51-AB8230355CAF}" type="datetimeFigureOut">
              <a:rPr lang="fr-FR" smtClean="0"/>
              <a:t>04/03/2026</a:t>
            </a:fld>
            <a:endParaRPr lang="fr-FR"/>
          </a:p>
        </p:txBody>
      </p:sp>
      <p:sp>
        <p:nvSpPr>
          <p:cNvPr id="5" name="Espace réservé du pied de page 4">
            <a:extLst>
              <a:ext uri="{FF2B5EF4-FFF2-40B4-BE49-F238E27FC236}">
                <a16:creationId xmlns:a16="http://schemas.microsoft.com/office/drawing/2014/main" id="{114274FB-1FD0-4BA5-BFF7-F0F6DEB39C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8F3DA996-705A-4073-9BEC-573E47C43CD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5906D5-4940-4F91-BBC6-CB10480894DB}" type="slidenum">
              <a:rPr lang="fr-FR" smtClean="0"/>
              <a:t>‹N°›</a:t>
            </a:fld>
            <a:endParaRPr lang="fr-FR"/>
          </a:p>
        </p:txBody>
      </p:sp>
    </p:spTree>
    <p:extLst>
      <p:ext uri="{BB962C8B-B14F-4D97-AF65-F5344CB8AC3E}">
        <p14:creationId xmlns:p14="http://schemas.microsoft.com/office/powerpoint/2010/main" val="37341626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B4DEB33-8B59-4800-9138-3AC349526904}"/>
              </a:ext>
            </a:extLst>
          </p:cNvPr>
          <p:cNvSpPr>
            <a:spLocks noGrp="1"/>
          </p:cNvSpPr>
          <p:nvPr>
            <p:ph type="ctrTitle"/>
          </p:nvPr>
        </p:nvSpPr>
        <p:spPr/>
        <p:txBody>
          <a:bodyPr>
            <a:normAutofit fontScale="90000"/>
          </a:bodyPr>
          <a:lstStyle/>
          <a:p>
            <a:r>
              <a:rPr lang="fr-FR" b="1" i="0" dirty="0">
                <a:solidFill>
                  <a:srgbClr val="1A237E"/>
                </a:solidFill>
                <a:effectLst/>
                <a:latin typeface="Roboto" panose="02000000000000000000" pitchFamily="2" charset="0"/>
              </a:rPr>
              <a:t>Projet de Tableau de Bord RH</a:t>
            </a:r>
            <a:br>
              <a:rPr lang="fr-FR" b="1" i="0" dirty="0">
                <a:solidFill>
                  <a:srgbClr val="1A237E"/>
                </a:solidFill>
                <a:effectLst/>
                <a:latin typeface="Roboto" panose="02000000000000000000" pitchFamily="2" charset="0"/>
              </a:rPr>
            </a:br>
            <a:endParaRPr lang="fr-FR" dirty="0"/>
          </a:p>
        </p:txBody>
      </p:sp>
      <p:sp>
        <p:nvSpPr>
          <p:cNvPr id="3" name="Sous-titre 2">
            <a:extLst>
              <a:ext uri="{FF2B5EF4-FFF2-40B4-BE49-F238E27FC236}">
                <a16:creationId xmlns:a16="http://schemas.microsoft.com/office/drawing/2014/main" id="{CDC35989-E35F-49A3-A4A3-D9BEF7CD2F07}"/>
              </a:ext>
            </a:extLst>
          </p:cNvPr>
          <p:cNvSpPr>
            <a:spLocks noGrp="1"/>
          </p:cNvSpPr>
          <p:nvPr>
            <p:ph type="subTitle" idx="1"/>
          </p:nvPr>
        </p:nvSpPr>
        <p:spPr>
          <a:xfrm>
            <a:off x="1524000" y="3602038"/>
            <a:ext cx="8910918" cy="1185115"/>
          </a:xfrm>
        </p:spPr>
        <p:txBody>
          <a:bodyPr/>
          <a:lstStyle/>
          <a:p>
            <a:r>
              <a:rPr lang="fr-FR" b="0" i="0" dirty="0">
                <a:solidFill>
                  <a:srgbClr val="4B5563"/>
                </a:solidFill>
                <a:effectLst/>
                <a:latin typeface="Roboto" panose="02000000000000000000" pitchFamily="2" charset="0"/>
              </a:rPr>
              <a:t>De la donnée brute à la prise de décision stratégique. Transformation des données des Ressources Humaines en un outil de pilotage interactif et fiable.</a:t>
            </a:r>
            <a:endParaRPr lang="fr-FR" dirty="0"/>
          </a:p>
        </p:txBody>
      </p:sp>
    </p:spTree>
    <p:extLst>
      <p:ext uri="{BB962C8B-B14F-4D97-AF65-F5344CB8AC3E}">
        <p14:creationId xmlns:p14="http://schemas.microsoft.com/office/powerpoint/2010/main" val="66867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2833FAF-552B-47D8-A9D2-494CED86C633}"/>
              </a:ext>
            </a:extLst>
          </p:cNvPr>
          <p:cNvSpPr>
            <a:spLocks noGrp="1"/>
          </p:cNvSpPr>
          <p:nvPr>
            <p:ph type="title"/>
          </p:nvPr>
        </p:nvSpPr>
        <p:spPr>
          <a:xfrm>
            <a:off x="0" y="0"/>
            <a:ext cx="3932237" cy="1600200"/>
          </a:xfrm>
        </p:spPr>
        <p:txBody>
          <a:bodyPr/>
          <a:lstStyle/>
          <a:p>
            <a:r>
              <a:rPr lang="fr-FR" b="1" i="0" dirty="0">
                <a:solidFill>
                  <a:srgbClr val="3F51B5"/>
                </a:solidFill>
                <a:effectLst/>
                <a:latin typeface="Roboto" panose="02000000000000000000" pitchFamily="2" charset="0"/>
              </a:rPr>
              <a:t> Architecture et Fiabilité des Données</a:t>
            </a:r>
            <a:endParaRPr lang="fr-FR" dirty="0"/>
          </a:p>
        </p:txBody>
      </p:sp>
      <p:sp>
        <p:nvSpPr>
          <p:cNvPr id="3" name="Espace réservé pour une image  2">
            <a:extLst>
              <a:ext uri="{FF2B5EF4-FFF2-40B4-BE49-F238E27FC236}">
                <a16:creationId xmlns:a16="http://schemas.microsoft.com/office/drawing/2014/main" id="{41A0AE96-C525-45AE-9C2C-4C995A024723}"/>
              </a:ext>
            </a:extLst>
          </p:cNvPr>
          <p:cNvSpPr>
            <a:spLocks noGrp="1"/>
          </p:cNvSpPr>
          <p:nvPr>
            <p:ph type="pic" idx="1"/>
          </p:nvPr>
        </p:nvSpPr>
        <p:spPr/>
      </p:sp>
      <p:sp>
        <p:nvSpPr>
          <p:cNvPr id="4" name="Espace réservé du texte 3">
            <a:extLst>
              <a:ext uri="{FF2B5EF4-FFF2-40B4-BE49-F238E27FC236}">
                <a16:creationId xmlns:a16="http://schemas.microsoft.com/office/drawing/2014/main" id="{29D5E2EA-B886-42AC-8056-98652B89A887}"/>
              </a:ext>
            </a:extLst>
          </p:cNvPr>
          <p:cNvSpPr>
            <a:spLocks noGrp="1"/>
          </p:cNvSpPr>
          <p:nvPr>
            <p:ph type="body" sz="half" idx="2"/>
          </p:nvPr>
        </p:nvSpPr>
        <p:spPr>
          <a:xfrm>
            <a:off x="0" y="1600199"/>
            <a:ext cx="3932237" cy="4843631"/>
          </a:xfrm>
        </p:spPr>
        <p:txBody>
          <a:bodyPr>
            <a:noAutofit/>
          </a:bodyPr>
          <a:lstStyle/>
          <a:p>
            <a:pPr algn="just"/>
            <a:r>
              <a:rPr lang="fr-FR" sz="2400" b="0" i="0" dirty="0">
                <a:solidFill>
                  <a:srgbClr val="374151"/>
                </a:solidFill>
                <a:effectLst/>
                <a:latin typeface="Roboto" panose="02000000000000000000" pitchFamily="2" charset="0"/>
              </a:rPr>
              <a:t>La fondation technique de ce projet repose sur une modélisation optimisée dite "en étoile" (Star </a:t>
            </a:r>
            <a:r>
              <a:rPr lang="fr-FR" sz="2400" b="0" i="0" dirty="0" err="1">
                <a:solidFill>
                  <a:srgbClr val="374151"/>
                </a:solidFill>
                <a:effectLst/>
                <a:latin typeface="Roboto" panose="02000000000000000000" pitchFamily="2" charset="0"/>
              </a:rPr>
              <a:t>Schema</a:t>
            </a:r>
            <a:r>
              <a:rPr lang="fr-FR" sz="2400" b="0" i="0" dirty="0">
                <a:solidFill>
                  <a:srgbClr val="374151"/>
                </a:solidFill>
                <a:effectLst/>
                <a:latin typeface="Roboto" panose="02000000000000000000" pitchFamily="2" charset="0"/>
              </a:rPr>
              <a:t>). Cette structure sépare clairement les faits (les événements RH) des dimensions (les axes d'analyse), garantissant ainsi haute performance, évolutivité et intégrité absolue des indicateurs calculés.</a:t>
            </a:r>
            <a:endParaRPr lang="fr-FR" sz="2400" dirty="0"/>
          </a:p>
        </p:txBody>
      </p:sp>
      <p:pic>
        <p:nvPicPr>
          <p:cNvPr id="6" name="Image 5">
            <a:extLst>
              <a:ext uri="{FF2B5EF4-FFF2-40B4-BE49-F238E27FC236}">
                <a16:creationId xmlns:a16="http://schemas.microsoft.com/office/drawing/2014/main" id="{56DA6D5E-DB7B-4806-87BA-4923DB56D162}"/>
              </a:ext>
            </a:extLst>
          </p:cNvPr>
          <p:cNvPicPr>
            <a:picLocks noChangeAspect="1"/>
          </p:cNvPicPr>
          <p:nvPr/>
        </p:nvPicPr>
        <p:blipFill>
          <a:blip r:embed="rId2"/>
          <a:stretch>
            <a:fillRect/>
          </a:stretch>
        </p:blipFill>
        <p:spPr>
          <a:xfrm>
            <a:off x="3932238" y="987425"/>
            <a:ext cx="7933448" cy="5870575"/>
          </a:xfrm>
          <a:prstGeom prst="rect">
            <a:avLst/>
          </a:prstGeom>
        </p:spPr>
      </p:pic>
    </p:spTree>
    <p:extLst>
      <p:ext uri="{BB962C8B-B14F-4D97-AF65-F5344CB8AC3E}">
        <p14:creationId xmlns:p14="http://schemas.microsoft.com/office/powerpoint/2010/main" val="3175702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2833FAF-552B-47D8-A9D2-494CED86C633}"/>
              </a:ext>
            </a:extLst>
          </p:cNvPr>
          <p:cNvSpPr>
            <a:spLocks noGrp="1"/>
          </p:cNvSpPr>
          <p:nvPr>
            <p:ph type="title"/>
          </p:nvPr>
        </p:nvSpPr>
        <p:spPr/>
        <p:txBody>
          <a:bodyPr>
            <a:normAutofit/>
          </a:bodyPr>
          <a:lstStyle/>
          <a:p>
            <a:r>
              <a:rPr lang="fr-FR" b="1" i="0" dirty="0">
                <a:solidFill>
                  <a:srgbClr val="3F51B5"/>
                </a:solidFill>
                <a:effectLst/>
                <a:latin typeface="Roboto" panose="02000000000000000000" pitchFamily="2" charset="0"/>
              </a:rPr>
              <a:t>Dynamique des Effectifs et Attrition</a:t>
            </a:r>
            <a:endParaRPr lang="fr-FR" dirty="0"/>
          </a:p>
        </p:txBody>
      </p:sp>
      <p:sp>
        <p:nvSpPr>
          <p:cNvPr id="4" name="Espace réservé du texte 3">
            <a:extLst>
              <a:ext uri="{FF2B5EF4-FFF2-40B4-BE49-F238E27FC236}">
                <a16:creationId xmlns:a16="http://schemas.microsoft.com/office/drawing/2014/main" id="{29D5E2EA-B886-42AC-8056-98652B89A887}"/>
              </a:ext>
            </a:extLst>
          </p:cNvPr>
          <p:cNvSpPr>
            <a:spLocks noGrp="1"/>
          </p:cNvSpPr>
          <p:nvPr>
            <p:ph idx="1"/>
          </p:nvPr>
        </p:nvSpPr>
        <p:spPr>
          <a:xfrm>
            <a:off x="988807" y="1900928"/>
            <a:ext cx="10515600" cy="1702884"/>
          </a:xfrm>
        </p:spPr>
        <p:txBody>
          <a:bodyPr>
            <a:noAutofit/>
          </a:bodyPr>
          <a:lstStyle/>
          <a:p>
            <a:pPr algn="just"/>
            <a:r>
              <a:rPr lang="fr-FR" sz="2800" b="0" i="0" dirty="0">
                <a:solidFill>
                  <a:srgbClr val="374151"/>
                </a:solidFill>
                <a:effectLst/>
                <a:latin typeface="Roboto" panose="02000000000000000000" pitchFamily="2" charset="0"/>
              </a:rPr>
              <a:t>Cœur de l'analyse RH, cet axe permet d'évaluer la capacité de rétention de l'entreprise via une comptabilisation stricte des collaborateurs actifs et des départs, aboutissant au KPI majeur : le Taux d'Attrition.</a:t>
            </a:r>
            <a:endParaRPr lang="fr-FR" sz="2400" dirty="0"/>
          </a:p>
        </p:txBody>
      </p:sp>
    </p:spTree>
    <p:extLst>
      <p:ext uri="{BB962C8B-B14F-4D97-AF65-F5344CB8AC3E}">
        <p14:creationId xmlns:p14="http://schemas.microsoft.com/office/powerpoint/2010/main" val="5313115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F884EA35-A5E6-4FEB-9C13-E5BC9B523008}"/>
              </a:ext>
            </a:extLst>
          </p:cNvPr>
          <p:cNvPicPr>
            <a:picLocks noChangeAspect="1"/>
          </p:cNvPicPr>
          <p:nvPr/>
        </p:nvPicPr>
        <p:blipFill>
          <a:blip r:embed="rId2"/>
          <a:stretch>
            <a:fillRect/>
          </a:stretch>
        </p:blipFill>
        <p:spPr>
          <a:xfrm>
            <a:off x="274860" y="199250"/>
            <a:ext cx="11580067" cy="6793639"/>
          </a:xfrm>
          <a:prstGeom prst="rect">
            <a:avLst/>
          </a:prstGeom>
        </p:spPr>
      </p:pic>
    </p:spTree>
    <p:extLst>
      <p:ext uri="{BB962C8B-B14F-4D97-AF65-F5344CB8AC3E}">
        <p14:creationId xmlns:p14="http://schemas.microsoft.com/office/powerpoint/2010/main" val="17174998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texte 4">
            <a:extLst>
              <a:ext uri="{FF2B5EF4-FFF2-40B4-BE49-F238E27FC236}">
                <a16:creationId xmlns:a16="http://schemas.microsoft.com/office/drawing/2014/main" id="{D0AFC464-3031-4C91-8091-71F6EB68F9F0}"/>
              </a:ext>
            </a:extLst>
          </p:cNvPr>
          <p:cNvSpPr>
            <a:spLocks noGrp="1"/>
          </p:cNvSpPr>
          <p:nvPr>
            <p:ph type="body" idx="1"/>
          </p:nvPr>
        </p:nvSpPr>
        <p:spPr/>
        <p:txBody>
          <a:bodyPr/>
          <a:lstStyle/>
          <a:p>
            <a:r>
              <a:rPr lang="fr-FR" b="1" i="0" dirty="0">
                <a:solidFill>
                  <a:srgbClr val="3F51B5"/>
                </a:solidFill>
                <a:effectLst/>
                <a:latin typeface="Roboto" panose="02000000000000000000" pitchFamily="2" charset="0"/>
              </a:rPr>
              <a:t>Politique de Rémunération et Évolution</a:t>
            </a:r>
            <a:endParaRPr lang="fr-FR" dirty="0"/>
          </a:p>
        </p:txBody>
      </p:sp>
      <p:sp>
        <p:nvSpPr>
          <p:cNvPr id="4" name="Espace réservé du texte 3">
            <a:extLst>
              <a:ext uri="{FF2B5EF4-FFF2-40B4-BE49-F238E27FC236}">
                <a16:creationId xmlns:a16="http://schemas.microsoft.com/office/drawing/2014/main" id="{29D5E2EA-B886-42AC-8056-98652B89A887}"/>
              </a:ext>
            </a:extLst>
          </p:cNvPr>
          <p:cNvSpPr>
            <a:spLocks noGrp="1"/>
          </p:cNvSpPr>
          <p:nvPr>
            <p:ph sz="half" idx="2"/>
          </p:nvPr>
        </p:nvSpPr>
        <p:spPr/>
        <p:txBody>
          <a:bodyPr>
            <a:noAutofit/>
          </a:bodyPr>
          <a:lstStyle/>
          <a:p>
            <a:pPr marL="0" indent="0" algn="just">
              <a:buNone/>
            </a:pPr>
            <a:r>
              <a:rPr lang="fr-FR" dirty="0">
                <a:solidFill>
                  <a:srgbClr val="374151"/>
                </a:solidFill>
                <a:latin typeface="Roboto" panose="02000000000000000000" pitchFamily="2" charset="0"/>
              </a:rPr>
              <a:t>Cet axe mesure l'investissement dans le capital humain. Il met en lumière l'équité des salaires et surveille les indicateurs de progression comme l'ancienneté et le temps écoulé depuis la dernière promotion pour prévenir la stagnation.</a:t>
            </a:r>
          </a:p>
        </p:txBody>
      </p:sp>
      <p:sp>
        <p:nvSpPr>
          <p:cNvPr id="6" name="Espace réservé du texte 5">
            <a:extLst>
              <a:ext uri="{FF2B5EF4-FFF2-40B4-BE49-F238E27FC236}">
                <a16:creationId xmlns:a16="http://schemas.microsoft.com/office/drawing/2014/main" id="{6FA385A1-392E-4391-ABD3-ACD8911B52C3}"/>
              </a:ext>
            </a:extLst>
          </p:cNvPr>
          <p:cNvSpPr>
            <a:spLocks noGrp="1"/>
          </p:cNvSpPr>
          <p:nvPr>
            <p:ph type="body" sz="quarter" idx="3"/>
          </p:nvPr>
        </p:nvSpPr>
        <p:spPr/>
        <p:txBody>
          <a:bodyPr/>
          <a:lstStyle/>
          <a:p>
            <a:r>
              <a:rPr lang="fr-FR" b="1" i="0" dirty="0">
                <a:solidFill>
                  <a:srgbClr val="3F51B5"/>
                </a:solidFill>
                <a:effectLst/>
                <a:latin typeface="Roboto" panose="02000000000000000000" pitchFamily="2" charset="0"/>
              </a:rPr>
              <a:t>Démographie et Mobilité</a:t>
            </a:r>
            <a:endParaRPr lang="fr-FR" dirty="0"/>
          </a:p>
        </p:txBody>
      </p:sp>
      <p:sp>
        <p:nvSpPr>
          <p:cNvPr id="7" name="Espace réservé du contenu 6">
            <a:extLst>
              <a:ext uri="{FF2B5EF4-FFF2-40B4-BE49-F238E27FC236}">
                <a16:creationId xmlns:a16="http://schemas.microsoft.com/office/drawing/2014/main" id="{73C5C197-362C-4A74-A99C-497C7692C1EA}"/>
              </a:ext>
            </a:extLst>
          </p:cNvPr>
          <p:cNvSpPr>
            <a:spLocks noGrp="1"/>
          </p:cNvSpPr>
          <p:nvPr>
            <p:ph sz="quarter" idx="4"/>
          </p:nvPr>
        </p:nvSpPr>
        <p:spPr/>
        <p:txBody>
          <a:bodyPr/>
          <a:lstStyle/>
          <a:p>
            <a:pPr marL="0" indent="0">
              <a:buNone/>
            </a:pPr>
            <a:r>
              <a:rPr lang="fr-FR" b="0" i="0" dirty="0">
                <a:solidFill>
                  <a:srgbClr val="374151"/>
                </a:solidFill>
                <a:effectLst/>
                <a:latin typeface="Roboto" panose="02000000000000000000" pitchFamily="2" charset="0"/>
              </a:rPr>
              <a:t>Identification des facteurs de risque liés à l'organisation du travail et au profil des collaborateurs. L'analyse croisée révèle les impacts cachés de la structure organisationnelle sur la décision de quitter l'entreprise.</a:t>
            </a:r>
            <a:endParaRPr lang="fr-FR" dirty="0"/>
          </a:p>
        </p:txBody>
      </p:sp>
    </p:spTree>
    <p:extLst>
      <p:ext uri="{BB962C8B-B14F-4D97-AF65-F5344CB8AC3E}">
        <p14:creationId xmlns:p14="http://schemas.microsoft.com/office/powerpoint/2010/main" val="39690919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4F899DCF-985B-4BD1-B3CA-531AB801D0BC}"/>
              </a:ext>
            </a:extLst>
          </p:cNvPr>
          <p:cNvPicPr>
            <a:picLocks noChangeAspect="1"/>
          </p:cNvPicPr>
          <p:nvPr/>
        </p:nvPicPr>
        <p:blipFill>
          <a:blip r:embed="rId2"/>
          <a:stretch>
            <a:fillRect/>
          </a:stretch>
        </p:blipFill>
        <p:spPr>
          <a:xfrm>
            <a:off x="0" y="-1"/>
            <a:ext cx="11973261" cy="6939115"/>
          </a:xfrm>
          <a:prstGeom prst="rect">
            <a:avLst/>
          </a:prstGeom>
        </p:spPr>
      </p:pic>
    </p:spTree>
    <p:extLst>
      <p:ext uri="{BB962C8B-B14F-4D97-AF65-F5344CB8AC3E}">
        <p14:creationId xmlns:p14="http://schemas.microsoft.com/office/powerpoint/2010/main" val="9872687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2833FAF-552B-47D8-A9D2-494CED86C633}"/>
              </a:ext>
            </a:extLst>
          </p:cNvPr>
          <p:cNvSpPr>
            <a:spLocks noGrp="1"/>
          </p:cNvSpPr>
          <p:nvPr>
            <p:ph type="title"/>
          </p:nvPr>
        </p:nvSpPr>
        <p:spPr/>
        <p:txBody>
          <a:bodyPr>
            <a:normAutofit/>
          </a:bodyPr>
          <a:lstStyle/>
          <a:p>
            <a:r>
              <a:rPr lang="fr-FR" b="1" i="0" dirty="0">
                <a:solidFill>
                  <a:srgbClr val="3F51B5"/>
                </a:solidFill>
                <a:effectLst/>
                <a:latin typeface="Roboto" panose="02000000000000000000" pitchFamily="2" charset="0"/>
              </a:rPr>
              <a:t>Qualité de Vie au Travail</a:t>
            </a:r>
            <a:endParaRPr lang="fr-FR" dirty="0"/>
          </a:p>
        </p:txBody>
      </p:sp>
      <p:sp>
        <p:nvSpPr>
          <p:cNvPr id="4" name="Espace réservé du texte 3">
            <a:extLst>
              <a:ext uri="{FF2B5EF4-FFF2-40B4-BE49-F238E27FC236}">
                <a16:creationId xmlns:a16="http://schemas.microsoft.com/office/drawing/2014/main" id="{29D5E2EA-B886-42AC-8056-98652B89A887}"/>
              </a:ext>
            </a:extLst>
          </p:cNvPr>
          <p:cNvSpPr>
            <a:spLocks noGrp="1"/>
          </p:cNvSpPr>
          <p:nvPr>
            <p:ph idx="1"/>
          </p:nvPr>
        </p:nvSpPr>
        <p:spPr>
          <a:xfrm>
            <a:off x="988807" y="1900928"/>
            <a:ext cx="10515600" cy="1325563"/>
          </a:xfrm>
        </p:spPr>
        <p:txBody>
          <a:bodyPr>
            <a:noAutofit/>
          </a:bodyPr>
          <a:lstStyle/>
          <a:p>
            <a:pPr marL="0" indent="0" algn="just">
              <a:buNone/>
            </a:pPr>
            <a:r>
              <a:rPr lang="fr-FR" dirty="0">
                <a:solidFill>
                  <a:srgbClr val="374151"/>
                </a:solidFill>
                <a:latin typeface="Roboto" panose="02000000000000000000" pitchFamily="2" charset="0"/>
              </a:rPr>
              <a:t>L'évaluation du climat social est primordiale. En exploitant la dimension Satisfaction, nous mesurons le ressenti direct des collaborateurs pour cibler les actions managériales d'urgence.</a:t>
            </a:r>
          </a:p>
        </p:txBody>
      </p:sp>
    </p:spTree>
    <p:extLst>
      <p:ext uri="{BB962C8B-B14F-4D97-AF65-F5344CB8AC3E}">
        <p14:creationId xmlns:p14="http://schemas.microsoft.com/office/powerpoint/2010/main" val="5809133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540E6E02-FF51-41F1-B7FE-9B58AAF3F291}"/>
              </a:ext>
            </a:extLst>
          </p:cNvPr>
          <p:cNvPicPr>
            <a:picLocks noChangeAspect="1"/>
          </p:cNvPicPr>
          <p:nvPr/>
        </p:nvPicPr>
        <p:blipFill>
          <a:blip r:embed="rId2"/>
          <a:stretch>
            <a:fillRect/>
          </a:stretch>
        </p:blipFill>
        <p:spPr>
          <a:xfrm>
            <a:off x="129092" y="275784"/>
            <a:ext cx="11876442" cy="6957704"/>
          </a:xfrm>
          <a:prstGeom prst="rect">
            <a:avLst/>
          </a:prstGeom>
        </p:spPr>
      </p:pic>
    </p:spTree>
    <p:extLst>
      <p:ext uri="{BB962C8B-B14F-4D97-AF65-F5344CB8AC3E}">
        <p14:creationId xmlns:p14="http://schemas.microsoft.com/office/powerpoint/2010/main" val="18007040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2833FAF-552B-47D8-A9D2-494CED86C633}"/>
              </a:ext>
            </a:extLst>
          </p:cNvPr>
          <p:cNvSpPr>
            <a:spLocks noGrp="1"/>
          </p:cNvSpPr>
          <p:nvPr>
            <p:ph type="title"/>
          </p:nvPr>
        </p:nvSpPr>
        <p:spPr/>
        <p:txBody>
          <a:bodyPr>
            <a:normAutofit/>
          </a:bodyPr>
          <a:lstStyle/>
          <a:p>
            <a:pPr algn="ctr"/>
            <a:r>
              <a:rPr lang="fr-FR" b="1" i="0" dirty="0">
                <a:solidFill>
                  <a:srgbClr val="00BCD4"/>
                </a:solidFill>
                <a:effectLst/>
                <a:latin typeface="Roboto" panose="02000000000000000000" pitchFamily="2" charset="0"/>
              </a:rPr>
              <a:t>Livrables Finaux du Projet</a:t>
            </a:r>
            <a:endParaRPr lang="fr-FR" dirty="0"/>
          </a:p>
        </p:txBody>
      </p:sp>
      <p:sp>
        <p:nvSpPr>
          <p:cNvPr id="4" name="Espace réservé du texte 3">
            <a:extLst>
              <a:ext uri="{FF2B5EF4-FFF2-40B4-BE49-F238E27FC236}">
                <a16:creationId xmlns:a16="http://schemas.microsoft.com/office/drawing/2014/main" id="{29D5E2EA-B886-42AC-8056-98652B89A887}"/>
              </a:ext>
            </a:extLst>
          </p:cNvPr>
          <p:cNvSpPr>
            <a:spLocks noGrp="1"/>
          </p:cNvSpPr>
          <p:nvPr>
            <p:ph idx="1"/>
          </p:nvPr>
        </p:nvSpPr>
        <p:spPr>
          <a:xfrm>
            <a:off x="988807" y="1900928"/>
            <a:ext cx="10515600" cy="2111674"/>
          </a:xfrm>
        </p:spPr>
        <p:txBody>
          <a:bodyPr>
            <a:noAutofit/>
          </a:bodyPr>
          <a:lstStyle/>
          <a:p>
            <a:pPr marL="0" indent="0" algn="just">
              <a:buNone/>
            </a:pPr>
            <a:r>
              <a:rPr lang="fr-FR" b="0" i="0" dirty="0">
                <a:solidFill>
                  <a:srgbClr val="9CA3AF"/>
                </a:solidFill>
                <a:effectLst/>
                <a:latin typeface="Roboto" panose="02000000000000000000" pitchFamily="2" charset="0"/>
              </a:rPr>
              <a:t>Ce tableau de bord interactif centralise l'intelligence RH. Il fournit une bibliothèque d'indicateurs certifiés et s'appuie sur un modèle de données gouverné, prêt pour les futures évolutions analytiques de l'entreprise.</a:t>
            </a:r>
            <a:endParaRPr lang="fr-FR" dirty="0">
              <a:solidFill>
                <a:srgbClr val="374151"/>
              </a:solidFill>
              <a:latin typeface="Roboto" panose="02000000000000000000" pitchFamily="2" charset="0"/>
            </a:endParaRPr>
          </a:p>
        </p:txBody>
      </p:sp>
    </p:spTree>
    <p:extLst>
      <p:ext uri="{BB962C8B-B14F-4D97-AF65-F5344CB8AC3E}">
        <p14:creationId xmlns:p14="http://schemas.microsoft.com/office/powerpoint/2010/main" val="2905488030"/>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TotalTime>
  <Words>277</Words>
  <Application>Microsoft Office PowerPoint</Application>
  <PresentationFormat>Grand écran</PresentationFormat>
  <Paragraphs>14</Paragraphs>
  <Slides>9</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9</vt:i4>
      </vt:variant>
    </vt:vector>
  </HeadingPairs>
  <TitlesOfParts>
    <vt:vector size="14" baseType="lpstr">
      <vt:lpstr>Arial</vt:lpstr>
      <vt:lpstr>Calibri</vt:lpstr>
      <vt:lpstr>Calibri Light</vt:lpstr>
      <vt:lpstr>Roboto</vt:lpstr>
      <vt:lpstr>Thème Office</vt:lpstr>
      <vt:lpstr>Projet de Tableau de Bord RH </vt:lpstr>
      <vt:lpstr> Architecture et Fiabilité des Données</vt:lpstr>
      <vt:lpstr>Dynamique des Effectifs et Attrition</vt:lpstr>
      <vt:lpstr>Présentation PowerPoint</vt:lpstr>
      <vt:lpstr>Présentation PowerPoint</vt:lpstr>
      <vt:lpstr>Présentation PowerPoint</vt:lpstr>
      <vt:lpstr>Qualité de Vie au Travail</vt:lpstr>
      <vt:lpstr>Présentation PowerPoint</vt:lpstr>
      <vt:lpstr>Livrables Finaux du Projet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Projet de Tableau de Bord RH</dc:title>
  <dc:creator>BOUBACAR  POTY  DIALLO</dc:creator>
  <cp:lastModifiedBy>BOUBACAR  POTY  DIALLO</cp:lastModifiedBy>
  <cp:revision>5</cp:revision>
  <dcterms:created xsi:type="dcterms:W3CDTF">2026-03-04T12:46:52Z</dcterms:created>
  <dcterms:modified xsi:type="dcterms:W3CDTF">2026-03-04T13:17:58Z</dcterms:modified>
</cp:coreProperties>
</file>